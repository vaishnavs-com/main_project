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15"/>
    <p:sldId id="271" r:id="rId16"/>
    <p:sldId id="272" r:id="rId25"/>
    <p:sldId id="273" r:id="rId26"/>
  </p:sldIdLst>
  <p:sldSz cx="18288000" cy="10287000"/>
  <p:notesSz cx="6858000" cy="9144000"/>
  <p:embeddedFontLs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24BA8-9A26-4508-9A34-D4E22AAEC98A}" v="3" dt="2025-12-17T16:52:41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font" Target="fonts/font1.fntdata"/><Relationship Id="rId21" Type="http://schemas.openxmlformats.org/officeDocument/2006/relationships/viewProps" Target="viewProps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4" Type="http://schemas.microsoft.com/office/2015/10/relationships/revisionInfo" Target="revisionInfo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9" Type="http://schemas.openxmlformats.org/officeDocument/2006/relationships/font" Target="fonts/font2.fntdata"/><Relationship Id="rId22" Type="http://schemas.openxmlformats.org/officeDocument/2006/relationships/theme" Target="theme/theme1.xml"/>  <Relationship Id="rId25" Type="http://schemas.openxmlformats.org/officeDocument/2006/relationships/slide" Target="slides/slide16.xml"/>
  <Relationship Id="rId26" Type="http://schemas.openxmlformats.org/officeDocument/2006/relationships/slide" Target="slides/slide17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7819" y="361607"/>
            <a:ext cx="1496378" cy="1317117"/>
          </a:xfrm>
          <a:custGeom>
            <a:avLst/>
            <a:gdLst/>
            <a:ahLst/>
            <a:cxnLst/>
            <a:rect l="l" t="t" r="r" b="b"/>
            <a:pathLst>
              <a:path w="1496378" h="1317117">
                <a:moveTo>
                  <a:pt x="0" y="0"/>
                </a:moveTo>
                <a:lnTo>
                  <a:pt x="1496377" y="0"/>
                </a:lnTo>
                <a:lnTo>
                  <a:pt x="1496377" y="1317117"/>
                </a:lnTo>
                <a:lnTo>
                  <a:pt x="0" y="1317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6" r="-56" b="-538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336129" y="2923397"/>
            <a:ext cx="133350" cy="133350"/>
            <a:chOff x="0" y="0"/>
            <a:chExt cx="133350" cy="13335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336129" y="7182792"/>
            <a:ext cx="133350" cy="133350"/>
            <a:chOff x="0" y="0"/>
            <a:chExt cx="133350" cy="13335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752673" y="1026233"/>
            <a:ext cx="4782622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005373" y="9265310"/>
            <a:ext cx="258994" cy="34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41889" y="9622269"/>
            <a:ext cx="3676183" cy="34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&amp; DS DEPARTMENT, SIMAT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5637" y="2718397"/>
            <a:ext cx="15905416" cy="217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D. Kumar, S. Puthusserypady, H. Dominguez, K. Sharma, J. E. Bardram, “CACHET-CADB: A Contextualized Ambulatory Electrocardiography Arrhythmia Dataset,” Frontiers in Cardiovascular Medicine, Vol. 9, Article 893090, 2022. 10.3389/fcvm.2022.893090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5637" y="6977792"/>
            <a:ext cx="15905416" cy="217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S. Buś, K. Jędrzejewski, P. Guzik, “Using Minimum Redundancy Maximum Relevance Algorithm to Select Minimal Sets of Heart Rate Variability Parameters for Atrial Fibrillation Detection,” Journal of Clinical Medicine, Vol. 11, No. 14, 2022. 10.3390/jcm11144004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6221" y="9518723"/>
            <a:ext cx="967264" cy="37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28/07/26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7819" y="361607"/>
            <a:ext cx="1496378" cy="1317117"/>
          </a:xfrm>
          <a:custGeom>
            <a:avLst/>
            <a:gdLst/>
            <a:ahLst/>
            <a:cxnLst/>
            <a:rect l="l" t="t" r="r" b="b"/>
            <a:pathLst>
              <a:path w="1496378" h="1317117">
                <a:moveTo>
                  <a:pt x="0" y="0"/>
                </a:moveTo>
                <a:lnTo>
                  <a:pt x="1496377" y="0"/>
                </a:lnTo>
                <a:lnTo>
                  <a:pt x="1496377" y="1317117"/>
                </a:lnTo>
                <a:lnTo>
                  <a:pt x="0" y="1317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6" r="-56" b="-538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336129" y="2005000"/>
            <a:ext cx="133350" cy="133350"/>
            <a:chOff x="0" y="0"/>
            <a:chExt cx="133350" cy="13335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336129" y="4865422"/>
            <a:ext cx="133350" cy="133350"/>
            <a:chOff x="0" y="0"/>
            <a:chExt cx="133350" cy="13335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336129" y="7725844"/>
            <a:ext cx="133350" cy="133350"/>
            <a:chOff x="0" y="0"/>
            <a:chExt cx="133350" cy="13335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005373" y="9265310"/>
            <a:ext cx="258994" cy="34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41889" y="9622269"/>
            <a:ext cx="3676183" cy="34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&amp; DS DEPARTMENT, SIMAT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5637" y="1800000"/>
            <a:ext cx="15905416" cy="217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M. S. Jahan, M. Mansourvar, S. Puthusserypady, U. K. Wiil, A. Peimankar, “Short-Term Atrial Fibrillation Detection Using Electrocardiograms: A Comparison of Machine Learning Approaches,” International Journal of Medical Informatics, Vol. 163, 2022. 10.1016/j.ijmedinf.2022.104790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5637" y="4660422"/>
            <a:ext cx="15905416" cy="217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R. S. Andersen, E. S. Poulsen, S. Puthusserypady, “A Novel Approach for Automatic Detection of Atrial Fibrillation Based on Inter Beat Intervals and Support Vector Machine,” Proceedings of the 39th Annual International Conference of the IEEE EMBC, 2017. 10.1109/EMBC.2017.8037253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5637" y="7520844"/>
            <a:ext cx="15905416" cy="162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M. V. Perez, K. T. Mahaffey, H. Hedlin, et al., “Large-Scale Assessment of a Smartwatch to Identify Atrial Fibrillation,” New England Journal of Medicine, Vol. 381, No. 20, 2019. 10.1056/NEJMoa1901183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6221" y="9518723"/>
            <a:ext cx="967264" cy="37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28/07/26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7819" y="361607"/>
            <a:ext cx="1496378" cy="1317117"/>
          </a:xfrm>
          <a:custGeom>
            <a:avLst/>
            <a:gdLst/>
            <a:ahLst/>
            <a:cxnLst/>
            <a:rect l="l" t="t" r="r" b="b"/>
            <a:pathLst>
              <a:path w="1496378" h="1317117">
                <a:moveTo>
                  <a:pt x="0" y="0"/>
                </a:moveTo>
                <a:lnTo>
                  <a:pt x="1496377" y="0"/>
                </a:lnTo>
                <a:lnTo>
                  <a:pt x="1496377" y="1317117"/>
                </a:lnTo>
                <a:lnTo>
                  <a:pt x="0" y="1317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6" r="-56" b="-538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336129" y="2005000"/>
            <a:ext cx="133350" cy="133350"/>
            <a:chOff x="0" y="0"/>
            <a:chExt cx="133350" cy="13335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336129" y="4593896"/>
            <a:ext cx="133350" cy="133350"/>
            <a:chOff x="0" y="0"/>
            <a:chExt cx="133350" cy="13335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336129" y="7182792"/>
            <a:ext cx="133350" cy="133350"/>
            <a:chOff x="0" y="0"/>
            <a:chExt cx="133350" cy="13335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005373" y="9265310"/>
            <a:ext cx="258994" cy="34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41889" y="9622269"/>
            <a:ext cx="3676183" cy="34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&amp; DS DEPARTMENT, SIMAT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5637" y="1800000"/>
            <a:ext cx="15905416" cy="162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J. Pan, W. J. Tompkins, “A Real-Time QRS Detection Algorithm,” IEEE Transactions on Biomedical Engineering, Vol. BME-32, No. 3, 1985. 10.1109/TBME.1985.325532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5637" y="4388896"/>
            <a:ext cx="15905416" cy="162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Task Force of the European Society of Cardiology, “Heart Rate Variability: Standards of Measurement, Physiological Interpretation, and Clinical Use,” Circulation, Vol. 93, No. 5, 1996. 10.1161/01.CIR.93.5.1043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5637" y="6977792"/>
            <a:ext cx="15905416" cy="217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J. S. Richman, J. R. Moorman, “Physiological Time-Series Analysis Using Approximate Entropy and Sample Entropy,” American Journal of Physiology - Heart and Circulatory Physiology, Vol. 278, No. 6, 2000. 10.1152/ajpheart.2000.278.6.H2039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6221" y="9518723"/>
            <a:ext cx="967264" cy="37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28/07/26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7819" y="361607"/>
            <a:ext cx="1496378" cy="1317117"/>
          </a:xfrm>
          <a:custGeom>
            <a:avLst/>
            <a:gdLst/>
            <a:ahLst/>
            <a:cxnLst/>
            <a:rect l="l" t="t" r="r" b="b"/>
            <a:pathLst>
              <a:path w="1496378" h="1317117">
                <a:moveTo>
                  <a:pt x="0" y="0"/>
                </a:moveTo>
                <a:lnTo>
                  <a:pt x="1496377" y="0"/>
                </a:lnTo>
                <a:lnTo>
                  <a:pt x="1496377" y="1317117"/>
                </a:lnTo>
                <a:lnTo>
                  <a:pt x="0" y="1317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6" r="-56" b="-538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336129" y="2005000"/>
            <a:ext cx="133350" cy="133350"/>
            <a:chOff x="0" y="0"/>
            <a:chExt cx="133350" cy="13335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336129" y="5136948"/>
            <a:ext cx="133350" cy="133350"/>
            <a:chOff x="0" y="0"/>
            <a:chExt cx="133350" cy="13335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336129" y="7725844"/>
            <a:ext cx="133350" cy="133350"/>
            <a:chOff x="0" y="0"/>
            <a:chExt cx="133350" cy="13335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005373" y="9265310"/>
            <a:ext cx="258994" cy="34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41889" y="9622269"/>
            <a:ext cx="3676183" cy="34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&amp; DS DEPARTMENT, SIMAT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5637" y="1800000"/>
            <a:ext cx="15905416" cy="217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H. Peng, F. Long, C. Ding, “Feature Selection Based on Mutual Information: Criteria of Max-Dependency, Max-Relevance, and Min-Redundancy,” IEEE Transactions on Pattern Analysis and Machine Intelligence, Vol. 27, No. 8, 2005. 10.1109/TPAMI.2005.159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5637" y="4931948"/>
            <a:ext cx="15905416" cy="162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T. Chen, C. Guestrin, “XGBoost: A Scalable Tree Boosting System,” Proceedings of the 22nd ACM SIGKDD International Conference on Knowledge Discovery and Data Mining, 2016. 10.1145/2939672.2939785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5637" y="7520844"/>
            <a:ext cx="15905416" cy="162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D. Makowski, T. Pham, Z. J. Lau, et al., “NeuroKit2: A Python Toolbox for Neurophysiological Signal Processing,” Behavior Research Methods, Vol. 53, No. 4, 2021. 10.3758/s13428-020-01516-y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6221" y="9518723"/>
            <a:ext cx="967264" cy="37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28/07/26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981</Words>
  <Application>Microsoft Office PowerPoint</Application>
  <PresentationFormat>Custom</PresentationFormat>
  <Paragraphs>145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Times New Roman Bold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DOC-20251216-WA0001..pdf</dc:title>
  <cp:lastModifiedBy>vichuu x</cp:lastModifiedBy>
  <cp:revision>3</cp:revision>
  <dcterms:created xsi:type="dcterms:W3CDTF">2006-08-16T00:00:00Z</dcterms:created>
  <dcterms:modified xsi:type="dcterms:W3CDTF">2025-12-17T17:03:41Z</dcterms:modified>
  <dc:identifier>DAG7pF07o3Q</dc:identifier>
</cp:coreProperties>
</file>